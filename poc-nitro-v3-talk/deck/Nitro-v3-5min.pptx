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— 15s]</a:t>
            </a:r>
          </a:p>
          <a:p/>
          <a:p>
            <a:r>
              <a:t>Nitro. Most people meet it as "the thing under Nuxt". The interesting part is</a:t>
            </a:r>
          </a:p>
          <a:p>
            <a:r>
              <a:t>that it stopped being a Nuxt thing.</a:t>
            </a:r>
          </a:p>
          <a:p/>
          <a:p>
            <a:r>
              <a:t>Five minutes: what it is, how it compiles, what it costs, and a live demo.</a:t>
            </a:r>
          </a:p>
          <a:p/>
          <a:p>
            <a:r>
              <a:t>— — — if asked: v3 went beta this year; that's the version I built the POC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— 25s]</a:t>
            </a:r>
          </a:p>
          <a:p/>
          <a:p>
            <a:r>
              <a:t>Nitro is a server toolkit, not a framework. A framework owns your request</a:t>
            </a:r>
          </a:p>
          <a:p>
            <a:r>
              <a:t>handler. Nitro owns your build and your deploy, and leaves the handler to you.</a:t>
            </a:r>
          </a:p>
          <a:p/>
          <a:p>
            <a:r>
              <a:t>In v3 a handler is plain web standard — Request in, Response out. That's why</a:t>
            </a:r>
          </a:p>
          <a:p>
            <a:r>
              <a:t>it isn't just Nuxt anymore: TanStack Start, Analog and SolidStart all sit on it.</a:t>
            </a:r>
          </a:p>
          <a:p/>
          <a:p>
            <a:r>
              <a:t>— — — if asked: you can bring Hono or Elysia as the entry and still keep all</a:t>
            </a:r>
          </a:p>
          <a:p>
            <a:r>
              <a:t>the deployment machinery. Nothing proprietary to learn or unlearn.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— 30s]</a:t>
            </a:r>
          </a:p>
          <a:p/>
          <a:p>
            <a:r>
              <a:t>The mental model is a compiler.</a:t>
            </a:r>
          </a:p>
          <a:p/>
          <a:p>
            <a:r>
              <a:t>Your routes and config go in. h3 handles routing, srvx normalises the HTTP</a:t>
            </a:r>
          </a:p>
          <a:p>
            <a:r>
              <a:t>server across runtimes, unenv polyfills the Node APIs the edge doesn't have,</a:t>
            </a:r>
          </a:p>
          <a:p>
            <a:r>
              <a:t>and Rolldown — a Rust bundler — builds it. Out comes one self-contained folder</a:t>
            </a:r>
          </a:p>
          <a:p>
            <a:r>
              <a:t>shaped for one platform.</a:t>
            </a:r>
          </a:p>
          <a:p/>
          <a:p>
            <a:r>
              <a:t>Key word: compiled. Routes are resolved at build time and code-split, so</a:t>
            </a:r>
          </a:p>
          <a:p>
            <a:r>
              <a:t>hitting slash api slash users never loads the code for posts.</a:t>
            </a:r>
          </a:p>
          <a:p/>
          <a:p>
            <a:r>
              <a:t>— — — if asked: batteries are opt-in and tree-shaken. Don't import the SQL</a:t>
            </a:r>
          </a:p>
          <a:p>
            <a:r>
              <a:t>layer and it isn't in your bundle. That's how 25 deps stays 25 deps.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[1:10 — 25s]</a:t>
            </a:r>
          </a:p>
          <a:p/>
          <a:p>
            <a:r>
              <a:t>This is the payoff, and these are numbers from my POC last night — not their</a:t>
            </a:r>
          </a:p>
          <a:p>
            <a:r>
              <a:t>marketing page.</a:t>
            </a:r>
          </a:p>
          <a:p/>
          <a:p>
            <a:r>
              <a:t>One command. NITRO_PRESET picks the target. Same source, five outputs.</a:t>
            </a:r>
          </a:p>
          <a:p/>
          <a:p>
            <a:r>
              <a:t>Notice Cloudflare is smaller than Node — unenv stripped the Node compatibility</a:t>
            </a:r>
          </a:p>
          <a:p>
            <a:r>
              <a:t>layer it doesn't need there. Each target gets its own build.</a:t>
            </a:r>
          </a:p>
          <a:p/>
          <a:p>
            <a:r>
              <a:t>— — — if asked: ~20 presets, and it auto-detects the platform in CI, so in</a:t>
            </a:r>
          </a:p>
          <a:p>
            <a:r>
              <a:t>practice you often set nothing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[1:35 — 22s]   (you'll open the real files in the demo, so keep this brisk)</a:t>
            </a:r>
          </a:p>
          <a:p/>
          <a:p>
            <a:r>
              <a:t>Two ideas, then I'll show you the real thing.</a:t>
            </a:r>
          </a:p>
          <a:p/>
          <a:p>
            <a:r>
              <a:t>Left: the filename is the route and the method — no registration file, so no</a:t>
            </a:r>
          </a:p>
          <a:p>
            <a:r>
              <a:t>drift. Right: defineCachedFunction wraps any async function in a</a:t>
            </a:r>
          </a:p>
          <a:p>
            <a:r>
              <a:t>stale-while-revalidate cache. Notice what's missing — no Redis client, no</a:t>
            </a:r>
          </a:p>
          <a:p>
            <a:r>
              <a:t>connection string.</a:t>
            </a:r>
          </a:p>
          <a:p/>
          <a:p>
            <a:r>
              <a:t>— — — if asked: it's backed by the storage layer, so dev writes files to disk</a:t>
            </a:r>
          </a:p>
          <a:p>
            <a:r>
              <a:t>and production points at Redis or Workers KV by changing config, never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[1:57 — 110s]  &gt;&gt;&gt; SWITCH TO EDITOR &lt;&lt;&lt;   full script: TOUR.md</a:t>
            </a:r>
          </a:p>
          <a:p/>
          <a:p>
            <a:r>
              <a:t>START ./demo.sh build-all IN A SECOND TERMINAL NOW — it takes 30-40s.</a:t>
            </a:r>
          </a:p>
          <a:p/>
          <a:p>
            <a:r>
              <a:t>0. Sidebar. Point at server/. "Seven files. That's the entire server —</a:t>
            </a:r>
          </a:p>
          <a:p>
            <a:r>
              <a:t>   routing, caching, auth, storage." Cmd+B to hide the sidebar.</a:t>
            </a:r>
          </a:p>
          <a:p/>
          <a:p>
            <a:r>
              <a:t>1. OPEN server/api/stars/[...repo].ts   (35s)</a:t>
            </a:r>
          </a:p>
          <a:p>
            <a:r>
              <a:t>   "The filename is the route. [...repo] is a catch-all, so /api/stars/</a:t>
            </a:r>
          </a:p>
          <a:p>
            <a:r>
              <a:t>   nitrojs/nitro arrives as one string."</a:t>
            </a:r>
          </a:p>
          <a:p>
            <a:r>
              <a:t>   Point at defineCachedFunction: "This wrapper is the whole caching story.</a:t>
            </a:r>
          </a:p>
          <a:p>
            <a:r>
              <a:t>   Look at what is NOT here: no redis client, no connection string, no</a:t>
            </a:r>
          </a:p>
          <a:p>
            <a:r>
              <a:t>   invalidation logic."</a:t>
            </a:r>
          </a:p>
          <a:p>
            <a:r>
              <a:t>   -&gt; BROWSER localhost:3100, click Fetch stars. Orange ~250-360 ms NETWORK.</a:t>
            </a:r>
          </a:p>
          <a:p>
            <a:r>
              <a:t>      Click again: green, under 1 ms, CACHE. Then hit x10 — a wall of green.</a:t>
            </a:r>
          </a:p>
          <a:p>
            <a:r>
              <a:t>   SAY the numbers actually on your screen: "Three hundred milliseconds to zero</a:t>
            </a:r>
          </a:p>
          <a:p>
            <a:r>
              <a:t>   point four. Same handler. The only thing I added was that wrapper."</a:t>
            </a:r>
          </a:p>
          <a:p>
            <a:r>
              <a:t>   (Cold latency is network-dependent — I've measured 123 to 359 ms. Read it live.)</a:t>
            </a:r>
          </a:p>
          <a:p/>
          <a:p>
            <a:r>
              <a:t>2. OPEN nitro.config.ts   (30s)</a:t>
            </a:r>
          </a:p>
          <a:p>
            <a:r>
              <a:t>   Point at routeRules: "This is not application code. It's config. CORS,</a:t>
            </a:r>
          </a:p>
          <a:p>
            <a:r>
              <a:t>   caching, a proxy, and basic auth, declared against URL patterns. Nitro</a:t>
            </a:r>
          </a:p>
          <a:p>
            <a:r>
              <a:t>   compiles these into CDN headers on Vercel, _headers on Netlify, runtime</a:t>
            </a:r>
          </a:p>
          <a:p>
            <a:r>
              <a:t>   middleware on Node."</a:t>
            </a:r>
          </a:p>
          <a:p>
            <a:r>
              <a:t>   -&gt; TERMINAL: ./demo.sh auth        401, then the page.</a:t>
            </a:r>
          </a:p>
          <a:p>
            <a:r>
              <a:t>   -&gt; OPEN server/routes/admin/index.ts</a:t>
            </a:r>
          </a:p>
          <a:p>
            <a:r>
              <a:t>   SAY: "Zero lines of auth code in the handler. It's four words in a config</a:t>
            </a:r>
          </a:p>
          <a:p>
            <a:r>
              <a:t>   file."</a:t>
            </a:r>
          </a:p>
          <a:p/>
          <a:p>
            <a:r>
              <a:t>3. THE CLOSER — the terminal you started earlier   (25s)</a:t>
            </a:r>
          </a:p>
          <a:p>
            <a:r>
              <a:t>   Five presets, five sizes. "Same source files. One environment variable</a:t>
            </a:r>
          </a:p>
          <a:p>
            <a:r>
              <a:t>   changed. Cloudflare is smaller than Node because unenv stripped the Node</a:t>
            </a:r>
          </a:p>
          <a:p>
            <a:r>
              <a:t>   compatibility layer."</a:t>
            </a:r>
          </a:p>
          <a:p/>
          <a:p>
            <a:r>
              <a:t>IF IT BREAKS: don't debug on stage. Slide 5 has the same two snippets; read the</a:t>
            </a:r>
          </a:p>
          <a:p>
            <a:r>
              <a:t>numbers off slide 4. No network kills beat 1 only. See RUNBOOK.md.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[3:47 — 30s]</a:t>
            </a:r>
          </a:p>
          <a:p/>
          <a:p>
            <a:r>
              <a:t>Now the honest half.</a:t>
            </a:r>
          </a:p>
          <a:p/>
          <a:p>
            <a:r>
              <a:t>v3 is beta, and two things bit me in one evening. The config wouldn't load until</a:t>
            </a:r>
          </a:p>
          <a:p>
            <a:r>
              <a:t>I installed jiti — an optional peer dependency. And routes silently 404'd until</a:t>
            </a:r>
          </a:p>
          <a:p>
            <a:r>
              <a:t>I set serverDir, which defaults to false.</a:t>
            </a:r>
          </a:p>
          <a:p/>
          <a:p>
            <a:r>
              <a:t>The bigger one: deploy-anywhere covers your code, not your dependencies. My</a:t>
            </a:r>
          </a:p>
          <a:p>
            <a:r>
              <a:t>filesystem storage driver pulled in a native binary and broke the Cloudflare and</a:t>
            </a:r>
          </a:p>
          <a:p>
            <a:r>
              <a:t>Deno builds outright.</a:t>
            </a:r>
          </a:p>
          <a:p/>
          <a:p>
            <a:r>
              <a:t>— — — if asked: the jiti error was just "createJiti is not a function", nothing</a:t>
            </a:r>
          </a:p>
          <a:p>
            <a:r>
              <a:t>about jiti being missing. The storage fix was devStorage — filesystem in dev,</a:t>
            </a:r>
          </a:p>
          <a:p>
            <a:r>
              <a:t>memory in production. Portability is a constraint you design for, not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[4:17 — 22s]</a:t>
            </a:r>
          </a:p>
          <a:p/>
          <a:p>
            <a:r>
              <a:t>Where it sits.</a:t>
            </a:r>
          </a:p>
          <a:p/>
          <a:p>
            <a:r>
              <a:t>Express and Fastify route requests and stop there. Hono is the fair comparison:</a:t>
            </a:r>
          </a:p>
          <a:p>
            <a:r>
              <a:t>also web standard, also multi-runtime, genuinely leaner — but it's a router, not</a:t>
            </a:r>
          </a:p>
          <a:p>
            <a:r>
              <a:t>a build system. Next gives you batteries, Vercel-shaped.</a:t>
            </a:r>
          </a:p>
          <a:p/>
          <a:p>
            <a:r>
              <a:t>Nitro's niche: I want the batteries and the deploy targets, without a frontend</a:t>
            </a:r>
          </a:p>
          <a:p>
            <a:r>
              <a:t>framework or a vendor attached.</a:t>
            </a:r>
          </a:p>
          <a:p/>
          <a:p>
            <a:r>
              <a:t>— — — if asked: it's not either-or — Nitro will run Hono as its server entry.</a:t>
            </a:r>
          </a:p>
          <a:p>
            <a:r>
              <a:t>Dep counts are transitive packages from a clean npm install yesterday; Hono at</a:t>
            </a:r>
          </a:p>
          <a:p>
            <a:r>
              <a:t>1 is genuinely impressive, it just does 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[4:39 — 18s]</a:t>
            </a:r>
          </a:p>
          <a:p/>
          <a:p>
            <a:r>
              <a:t>Would I use it?</a:t>
            </a:r>
          </a:p>
          <a:p/>
          <a:p>
            <a:r>
              <a:t>For a new API that might move platforms, yes — for the caching and storage, not</a:t>
            </a:r>
          </a:p>
          <a:p>
            <a:r>
              <a:t>the routing. Shipping next week? Wait for stable.</a:t>
            </a:r>
          </a:p>
          <a:p/>
          <a:p>
            <a:r>
              <a:t>The idea worth stealing: deployment as a compile target. Which platform becomes</a:t>
            </a:r>
          </a:p>
          <a:p>
            <a:r>
              <a:t>a build flag, not an architecture decision.</a:t>
            </a:r>
          </a:p>
          <a:p/>
          <a:p>
            <a:r>
              <a:t>Thanks.</a:t>
            </a:r>
          </a:p>
          <a:p/>
          <a:p>
            <a:r>
              <a:t>— — — if asked: v2 (nitropack) is production-proven today and runs Nuxt 3 and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965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F2A03D"/>
                </a:solidFill>
                <a:latin typeface="Calibri"/>
              </a:rPr>
              <a:t>SERVER TOOLKIT  ·  UNJS  ·  v3 BETA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7600" b="1" i="0">
                <a:solidFill>
                  <a:srgbClr val="E6EDF3"/>
                </a:solidFill>
                <a:latin typeface="Calibri"/>
              </a:rPr>
              <a:t>Nitro</a:t>
            </a:r>
            <a:r>
              <a:rPr sz="7600" b="1" i="0">
                <a:solidFill>
                  <a:srgbClr val="F2A03D"/>
                </a:solidFill>
                <a:latin typeface="Calibri"/>
              </a:rPr>
              <a:t> 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500" b="0" i="0">
                <a:solidFill>
                  <a:srgbClr val="8B98A9"/>
                </a:solidFill>
                <a:latin typeface="Calibri"/>
              </a:rPr>
              <a:t>Write your server once.
Let the build target the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8064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A6778"/>
                </a:solidFill>
                <a:latin typeface="Menlo"/>
              </a:rPr>
              <a:t>Mateus  ·  5-minute talk  ·  live demo included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A build tool for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8B98A9"/>
                </a:solidFill>
                <a:latin typeface="Calibri"/>
              </a:rPr>
              <a:t>It does not want to own your request handler. It wants to own your deploy.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60704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9400" indent="-279400">
              <a:spcAft>
                <a:spcPts val="1400"/>
              </a:spcAft>
            </a:pPr>
            <a:r>
              <a:rPr sz="1900" b="1" i="0">
                <a:solidFill>
                  <a:srgbClr val="F2A03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6EDF3"/>
                </a:solidFill>
                <a:latin typeface="Calibri"/>
              </a:rPr>
              <a:t>Web standards, not abstractions  </a:t>
            </a:r>
            <a:r>
              <a:rPr sz="1900" b="0" i="0">
                <a:solidFill>
                  <a:srgbClr val="8B98A9"/>
                </a:solidFill>
                <a:latin typeface="Calibri"/>
              </a:rPr>
              <a:t>— Request, Response, Headers, URL. h3 v2 was rewritten around them.</a:t>
            </a:r>
          </a:p>
          <a:p>
            <a:pPr marL="279400" indent="-279400">
              <a:spcAft>
                <a:spcPts val="1400"/>
              </a:spcAft>
            </a:pPr>
            <a:r>
              <a:rPr sz="1900" b="1" i="0">
                <a:solidFill>
                  <a:srgbClr val="F2A03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6EDF3"/>
                </a:solidFill>
                <a:latin typeface="Calibri"/>
              </a:rPr>
              <a:t>Filesystem routing  </a:t>
            </a:r>
            <a:r>
              <a:rPr sz="1900" b="0" i="0">
                <a:solidFill>
                  <a:srgbClr val="8B98A9"/>
                </a:solidFill>
                <a:latin typeface="Calibri"/>
              </a:rPr>
              <a:t>— compiled at build time, so there is no runtime router to pay for.</a:t>
            </a:r>
          </a:p>
          <a:p>
            <a:pPr marL="279400" indent="-279400">
              <a:spcAft>
                <a:spcPts val="1400"/>
              </a:spcAft>
            </a:pPr>
            <a:r>
              <a:rPr sz="1900" b="1" i="0">
                <a:solidFill>
                  <a:srgbClr val="F2A03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6EDF3"/>
                </a:solidFill>
                <a:latin typeface="Calibri"/>
              </a:rPr>
              <a:t>Runtime-agnostic  </a:t>
            </a:r>
            <a:r>
              <a:rPr sz="1900" b="0" i="0">
                <a:solidFill>
                  <a:srgbClr val="8B98A9"/>
                </a:solidFill>
                <a:latin typeface="Calibri"/>
              </a:rPr>
              <a:t>— one codebase for Node, Bun, Deno, Workers, Lambda.</a:t>
            </a:r>
          </a:p>
          <a:p>
            <a:pPr marL="279400" indent="-279400">
              <a:spcAft>
                <a:spcPts val="1400"/>
              </a:spcAft>
            </a:pPr>
            <a:r>
              <a:rPr sz="1900" b="1" i="0">
                <a:solidFill>
                  <a:srgbClr val="F2A03D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E6EDF3"/>
                </a:solidFill>
                <a:latin typeface="Calibri"/>
              </a:rPr>
              <a:t>Bring your own framework  </a:t>
            </a:r>
            <a:r>
              <a:rPr sz="1900" b="0" i="0">
                <a:solidFill>
                  <a:srgbClr val="8B98A9"/>
                </a:solidFill>
                <a:latin typeface="Calibri"/>
              </a:rPr>
              <a:t>— Hono or Elysia as the entry, Nitro still does the build.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3401568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5166360"/>
            <a:ext cx="44450" cy="96012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5780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F2A03D"/>
                </a:solidFill>
                <a:latin typeface="Calibri"/>
              </a:rPr>
              <a:t>Nuxt 5</a:t>
            </a:r>
          </a:p>
          <a:p>
            <a:r>
              <a:rPr sz="1200" b="0" i="0">
                <a:solidFill>
                  <a:srgbClr val="8B98A9"/>
                </a:solidFill>
                <a:latin typeface="Calibri"/>
              </a:rPr>
              <a:t>ships Nitro v3 at its 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5074920"/>
            <a:ext cx="3401568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9976" y="5166360"/>
            <a:ext cx="44450" cy="96012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525780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F2A03D"/>
                </a:solidFill>
                <a:latin typeface="Calibri"/>
              </a:rPr>
              <a:t>TanStack Start</a:t>
            </a:r>
          </a:p>
          <a:p>
            <a:r>
              <a:rPr sz="1200" b="0" i="0">
                <a:solidFill>
                  <a:srgbClr val="8B98A9"/>
                </a:solidFill>
                <a:latin typeface="Calibri"/>
              </a:rPr>
              <a:t>built on Nitro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5074920"/>
            <a:ext cx="3401568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82712" y="5166360"/>
            <a:ext cx="44450" cy="96012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2" y="525780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F2A03D"/>
                </a:solidFill>
                <a:latin typeface="Calibri"/>
              </a:rPr>
              <a:t>Analog · SolidStart</a:t>
            </a:r>
          </a:p>
          <a:p>
            <a:r>
              <a:rPr sz="1200" b="0" i="0">
                <a:solidFill>
                  <a:srgbClr val="8B98A9"/>
                </a:solidFill>
                <a:latin typeface="Calibri"/>
              </a:rPr>
              <a:t>built on Nitro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778"/>
                </a:solidFill>
                <a:latin typeface="Menlo"/>
              </a:rPr>
              <a:t>unjs ecosystem: h3 · srvx · unstorage · ocache · db0 · unenv · rolldown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It compiles your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774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68880"/>
            <a:ext cx="44450" cy="1188720"/>
          </a:xfrm>
          <a:prstGeom prst="rect">
            <a:avLst/>
          </a:prstGeom>
          <a:solidFill>
            <a:srgbClr val="E6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56032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E6EDF3"/>
                </a:solidFill>
                <a:latin typeface="Menlo"/>
              </a:rPr>
              <a:t>YOUR CODE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server/api/*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server/routes/*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nitro.config.ts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45536" y="28803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A3343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3774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93008" y="2468880"/>
            <a:ext cx="44450" cy="118872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56032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F2A03D"/>
                </a:solidFill>
                <a:latin typeface="Menlo"/>
              </a:rPr>
              <a:t>NITRO CORE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h3 v2 — routing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srvx — HTTP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unenv — polyfills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61304" y="28803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A3343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23774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08776" y="2468880"/>
            <a:ext cx="44450" cy="1188720"/>
          </a:xfrm>
          <a:prstGeom prst="rect">
            <a:avLst/>
          </a:prstGeom>
          <a:solidFill>
            <a:srgbClr val="C79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256032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C792EA"/>
                </a:solidFill>
                <a:latin typeface="Menlo"/>
              </a:rPr>
              <a:t>ROLLDOWN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Rust bundler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tree-shake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code-split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88036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A3343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237744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2468880"/>
            <a:ext cx="44450" cy="1188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560320"/>
            <a:ext cx="1920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700"/>
              </a:spcAft>
            </a:pPr>
            <a:r>
              <a:rPr sz="1300" b="1" i="0">
                <a:solidFill>
                  <a:srgbClr val="4ADE80"/>
                </a:solidFill>
                <a:latin typeface="Menlo"/>
              </a:rPr>
              <a:t>.OUTPUT/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one folder,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self-contained,</a:t>
            </a:r>
          </a:p>
          <a:p>
            <a:pPr>
              <a:spcAft>
                <a:spcPts val="100"/>
              </a:spcAft>
            </a:pPr>
            <a:r>
              <a:rPr sz="1250" b="0" i="0">
                <a:solidFill>
                  <a:srgbClr val="8B98A9"/>
                </a:solidFill>
                <a:latin typeface="Menlo"/>
              </a:rPr>
              <a:t>platform-shaped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10607040" cy="96012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251960"/>
            <a:ext cx="44450" cy="777240"/>
          </a:xfrm>
          <a:prstGeom prst="rect">
            <a:avLst/>
          </a:prstGeom>
          <a:solidFill>
            <a:srgbClr val="FFC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343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700" b="1" i="0">
                <a:solidFill>
                  <a:srgbClr val="E6EDF3"/>
                </a:solidFill>
                <a:latin typeface="Calibri"/>
              </a:rPr>
              <a:t>Batteries are opt-in and tree-shaken: </a:t>
            </a:r>
            <a:r>
              <a:rPr sz="1700" b="0" i="0">
                <a:solidFill>
                  <a:srgbClr val="8B98A9"/>
                </a:solidFill>
                <a:latin typeface="Calibri"/>
              </a:rPr>
              <a:t>KV storage, SWR caching, SQL, WebSockets, scheduled tasks.</a:t>
            </a:r>
          </a:p>
          <a:p>
            <a:r>
              <a:rPr sz="1500" b="0" i="1">
                <a:solidFill>
                  <a:srgbClr val="8B98A9"/>
                </a:solidFill>
                <a:latin typeface="Calibri"/>
              </a:rPr>
              <a:t>Don't import it and it is not in your bundle.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349240"/>
            <a:ext cx="3401568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440680"/>
            <a:ext cx="44450" cy="9601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53212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4ADE80"/>
                </a:solidFill>
                <a:latin typeface="Calibri"/>
              </a:rPr>
              <a:t>25</a:t>
            </a:r>
          </a:p>
          <a:p>
            <a:r>
              <a:rPr sz="1200" b="0" i="0">
                <a:solidFill>
                  <a:srgbClr val="8B98A9"/>
                </a:solidFill>
                <a:latin typeface="Calibri"/>
              </a:rPr>
              <a:t>transitive deps for nitro v3 (measured)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9976" y="5349240"/>
            <a:ext cx="3401568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9976" y="5440680"/>
            <a:ext cx="44450" cy="96012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553212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F87171"/>
                </a:solidFill>
                <a:latin typeface="Calibri"/>
              </a:rPr>
              <a:t>273</a:t>
            </a:r>
          </a:p>
          <a:p>
            <a:r>
              <a:rPr sz="1200" b="0" i="0">
                <a:solidFill>
                  <a:srgbClr val="8B98A9"/>
                </a:solidFill>
                <a:latin typeface="Calibri"/>
              </a:rPr>
              <a:t>transitive deps for nitropack v2 (measured)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2712" y="5349240"/>
            <a:ext cx="3401568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82712" y="5440680"/>
            <a:ext cx="44450" cy="96012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57032" y="5532120"/>
            <a:ext cx="29900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500" b="1" i="0">
                <a:solidFill>
                  <a:srgbClr val="F2A03D"/>
                </a:solidFill>
                <a:latin typeface="Calibri"/>
              </a:rPr>
              <a:t>22 ms</a:t>
            </a:r>
          </a:p>
          <a:p>
            <a:r>
              <a:rPr sz="1200" b="0" i="0">
                <a:solidFill>
                  <a:srgbClr val="8B98A9"/>
                </a:solidFill>
                <a:latin typeface="Calibri"/>
              </a:rPr>
              <a:t>dev rebuild in my POC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THE CORE IDEA — PRESETS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One codebase, five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8B98A9"/>
                </a:solidFill>
                <a:latin typeface="Calibri"/>
              </a:rPr>
              <a:t>Measured on the POC in this repo. Same source files, nothing changed between runs.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10607040" cy="658368"/>
          </a:xfrm>
          <a:prstGeom prst="roundRect">
            <a:avLst>
              <a:gd name="adj" fmla="val 4000"/>
            </a:avLst>
          </a:prstGeom>
          <a:solidFill>
            <a:srgbClr val="0E131B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478024"/>
            <a:ext cx="10149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500" b="0" i="0">
                <a:solidFill>
                  <a:srgbClr val="E6EDF3"/>
                </a:solidFill>
                <a:latin typeface="Menlo"/>
              </a:rPr>
              <a:t>NITRO_PRESET</a:t>
            </a:r>
            <a:r>
              <a:rPr sz="1500" b="0" i="0">
                <a:solidFill>
                  <a:srgbClr val="E6EDF3"/>
                </a:solidFill>
                <a:latin typeface="Menlo"/>
              </a:rPr>
              <a:t>=</a:t>
            </a:r>
            <a:r>
              <a:rPr sz="1500" b="0" i="0">
                <a:solidFill>
                  <a:srgbClr val="E6EDF3"/>
                </a:solidFill>
                <a:latin typeface="Menlo"/>
              </a:rPr>
              <a:t>cloudflare_module</a:t>
            </a:r>
            <a:r>
              <a:rPr sz="1500" b="0" i="0">
                <a:solidFill>
                  <a:srgbClr val="E6EDF3"/>
                </a:solidFill>
                <a:latin typeface="Menlo"/>
              </a:rPr>
              <a:t> </a:t>
            </a:r>
            <a:r>
              <a:rPr sz="1500" b="0" i="0">
                <a:solidFill>
                  <a:srgbClr val="E6EDF3"/>
                </a:solidFill>
                <a:latin typeface="Menlo"/>
              </a:rPr>
              <a:t>npx</a:t>
            </a:r>
            <a:r>
              <a:rPr sz="1500" b="0" i="0">
                <a:solidFill>
                  <a:srgbClr val="E6EDF3"/>
                </a:solidFill>
                <a:latin typeface="Menlo"/>
              </a:rPr>
              <a:t> </a:t>
            </a:r>
            <a:r>
              <a:rPr sz="1500" b="0" i="0">
                <a:solidFill>
                  <a:srgbClr val="E6EDF3"/>
                </a:solidFill>
                <a:latin typeface="Menlo"/>
              </a:rPr>
              <a:t>nitro</a:t>
            </a:r>
            <a:r>
              <a:rPr sz="1500" b="0" i="0">
                <a:solidFill>
                  <a:srgbClr val="E6EDF3"/>
                </a:solidFill>
                <a:latin typeface="Menlo"/>
              </a:rPr>
              <a:t> </a:t>
            </a:r>
            <a:r>
              <a:rPr sz="1500" b="0" i="0">
                <a:solidFill>
                  <a:srgbClr val="E6EDF3"/>
                </a:solidFill>
                <a:latin typeface="Menlo"/>
              </a:rPr>
              <a:t>build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3154680"/>
          <a:ext cx="106070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286000"/>
                <a:gridCol w="2103120"/>
                <a:gridCol w="25603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50" b="1" i="0">
                          <a:solidFill>
                            <a:srgbClr val="F2A03D"/>
                          </a:solidFill>
                          <a:latin typeface="Calibri"/>
                        </a:rPr>
                        <a:t>preset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F2A03D"/>
                          </a:solidFill>
                          <a:latin typeface="Calibri"/>
                        </a:rPr>
                        <a:t>output size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F2A03D"/>
                          </a:solidFill>
                          <a:latin typeface="Calibri"/>
                        </a:rPr>
                        <a:t>gzipped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F2A03D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E6EDF3"/>
                          </a:solidFill>
                          <a:latin typeface="Menlo"/>
                        </a:rPr>
                        <a:t>node (default)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114 kB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33.3 kB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4ADE80"/>
                          </a:solidFill>
                          <a:latin typeface="Calibri"/>
                        </a:rPr>
                        <a:t>✓ verified locally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E6EDF3"/>
                          </a:solidFill>
                          <a:latin typeface="Menlo"/>
                        </a:rPr>
                        <a:t>cloudflare_module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88.2 kB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26.6 kB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4ADE80"/>
                          </a:solidFill>
                          <a:latin typeface="Calibri"/>
                        </a:rPr>
                        <a:t>✓ build passes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E6EDF3"/>
                          </a:solidFill>
                          <a:latin typeface="Menlo"/>
                        </a:rPr>
                        <a:t>vercel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87.5 kB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26.3 kB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4ADE80"/>
                          </a:solidFill>
                          <a:latin typeface="Calibri"/>
                        </a:rPr>
                        <a:t>✓ build passes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E6EDF3"/>
                          </a:solidFill>
                          <a:latin typeface="Menlo"/>
                        </a:rPr>
                        <a:t>deno_deploy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95.7 kB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29.0 kB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4ADE80"/>
                          </a:solidFill>
                          <a:latin typeface="Calibri"/>
                        </a:rPr>
                        <a:t>✓ build passes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450" b="0" i="0">
                          <a:solidFill>
                            <a:srgbClr val="E6EDF3"/>
                          </a:solidFill>
                          <a:latin typeface="Menlo"/>
                        </a:rPr>
                        <a:t>bun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96.2 kB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0" i="0">
                          <a:solidFill>
                            <a:srgbClr val="E6EDF3"/>
                          </a:solidFill>
                          <a:latin typeface="Calibri"/>
                        </a:rPr>
                        <a:t>29.3 kB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50" b="1" i="0">
                          <a:solidFill>
                            <a:srgbClr val="4ADE80"/>
                          </a:solidFill>
                          <a:latin typeface="Calibri"/>
                        </a:rPr>
                        <a:t>✓ build passes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778"/>
                </a:solidFill>
                <a:latin typeface="Menlo"/>
              </a:rPr>
              <a:t>~20 presets total  ·  auto-detected in CI  ·  each handler is its own code-split chunk (359 B for /api/hello)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Routing is the filename. Caching is a wrapper.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5166360" cy="3794760"/>
          </a:xfrm>
          <a:prstGeom prst="roundRect">
            <a:avLst>
              <a:gd name="adj" fmla="val 4000"/>
            </a:avLst>
          </a:prstGeom>
          <a:solidFill>
            <a:srgbClr val="0E131B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31343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Menlo"/>
              </a:rPr>
              <a:t>filesystem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715768"/>
            <a:ext cx="47091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1">
                <a:solidFill>
                  <a:srgbClr val="8B98A9"/>
                </a:solidFill>
                <a:latin typeface="Menlo"/>
              </a:rPr>
              <a:t>// server/api/hello.get.ts  -&gt;  GET /api/hello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C792EA"/>
                </a:solidFill>
                <a:latin typeface="Menlo"/>
              </a:rPr>
              <a:t>import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{ </a:t>
            </a:r>
            <a:r>
              <a:rPr sz="1300" b="0" i="0">
                <a:solidFill>
                  <a:srgbClr val="FFCB6B"/>
                </a:solidFill>
                <a:latin typeface="Menlo"/>
              </a:rPr>
              <a:t>defineHandler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} </a:t>
            </a:r>
            <a:r>
              <a:rPr sz="1300" b="0" i="0">
                <a:solidFill>
                  <a:srgbClr val="C792EA"/>
                </a:solidFill>
                <a:latin typeface="Menlo"/>
              </a:rPr>
              <a:t>from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4ADE80"/>
                </a:solidFill>
                <a:latin typeface="Menlo"/>
              </a:rPr>
              <a:t>"nitro"</a:t>
            </a:r>
            <a:r>
              <a:rPr sz="1300" b="0" i="0">
                <a:solidFill>
                  <a:srgbClr val="E6EDF3"/>
                </a:solidFill>
                <a:latin typeface="Menlo"/>
              </a:rPr>
              <a:t>;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C792EA"/>
                </a:solidFill>
                <a:latin typeface="Menlo"/>
              </a:rPr>
              <a:t>export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C792EA"/>
                </a:solidFill>
                <a:latin typeface="Menlo"/>
              </a:rPr>
              <a:t>default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FFCB6B"/>
                </a:solidFill>
                <a:latin typeface="Menlo"/>
              </a:rPr>
              <a:t>defineHandler</a:t>
            </a:r>
            <a:r>
              <a:rPr sz="1300" b="0" i="0">
                <a:solidFill>
                  <a:srgbClr val="E6EDF3"/>
                </a:solidFill>
                <a:latin typeface="Menlo"/>
              </a:rPr>
              <a:t>((</a:t>
            </a:r>
            <a:r>
              <a:rPr sz="1300" b="0" i="0">
                <a:solidFill>
                  <a:srgbClr val="E6EDF3"/>
                </a:solidFill>
                <a:latin typeface="Menlo"/>
              </a:rPr>
              <a:t>event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) =&gt; {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</a:t>
            </a:r>
            <a:r>
              <a:rPr sz="1300" b="0" i="1">
                <a:solidFill>
                  <a:srgbClr val="8B98A9"/>
                </a:solidFill>
                <a:latin typeface="Menlo"/>
              </a:rPr>
              <a:t>// event.req is a real web Request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</a:t>
            </a:r>
            <a:r>
              <a:rPr sz="1300" b="0" i="0">
                <a:solidFill>
                  <a:srgbClr val="C792EA"/>
                </a:solidFill>
                <a:latin typeface="Menlo"/>
              </a:rPr>
              <a:t>return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{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hello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</a:t>
            </a:r>
            <a:r>
              <a:rPr sz="1300" b="0" i="0">
                <a:solidFill>
                  <a:srgbClr val="4ADE80"/>
                </a:solidFill>
                <a:latin typeface="Menlo"/>
              </a:rPr>
              <a:t>"Nitro"</a:t>
            </a:r>
            <a:r>
              <a:rPr sz="1300" b="0" i="0">
                <a:solidFill>
                  <a:srgbClr val="E6EDF3"/>
                </a:solidFill>
                <a:latin typeface="Menlo"/>
              </a:rPr>
              <a:t>,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         </a:t>
            </a:r>
            <a:r>
              <a:rPr sz="1300" b="0" i="0">
                <a:solidFill>
                  <a:srgbClr val="E6EDF3"/>
                </a:solidFill>
                <a:latin typeface="Menlo"/>
              </a:rPr>
              <a:t>method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event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.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req</a:t>
            </a:r>
            <a:r>
              <a:rPr sz="1300" b="0" i="0">
                <a:solidFill>
                  <a:srgbClr val="E6EDF3"/>
                </a:solidFill>
                <a:latin typeface="Menlo"/>
              </a:rPr>
              <a:t>.</a:t>
            </a:r>
            <a:r>
              <a:rPr sz="1300" b="0" i="0">
                <a:solidFill>
                  <a:srgbClr val="E6EDF3"/>
                </a:solidFill>
                <a:latin typeface="Menlo"/>
              </a:rPr>
              <a:t>method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};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});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1">
                <a:solidFill>
                  <a:srgbClr val="8B98A9"/>
                </a:solidFill>
                <a:latin typeface="Menlo"/>
              </a:rPr>
              <a:t>// hello.post.ts -&gt; POST, same path.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1">
                <a:solidFill>
                  <a:srgbClr val="8B98A9"/>
                </a:solidFill>
                <a:latin typeface="Menlo"/>
              </a:rPr>
              <a:t>// No router file. Nothing to keep in 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166360" cy="3794760"/>
          </a:xfrm>
          <a:prstGeom prst="roundRect">
            <a:avLst>
              <a:gd name="adj" fmla="val 4000"/>
            </a:avLst>
          </a:prstGeom>
          <a:solidFill>
            <a:srgbClr val="0E131B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313432"/>
            <a:ext cx="4709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Menlo"/>
              </a:rPr>
              <a:t>stale-while-revalidate in 10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2715768"/>
            <a:ext cx="4709160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1">
                <a:solidFill>
                  <a:srgbClr val="8B98A9"/>
                </a:solidFill>
                <a:latin typeface="Menlo"/>
              </a:rPr>
              <a:t>// server/api/stars/[...repo].ts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C792EA"/>
                </a:solidFill>
                <a:latin typeface="Menlo"/>
              </a:rPr>
              <a:t>const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cachedStars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= </a:t>
            </a:r>
            <a:r>
              <a:rPr sz="1300" b="0" i="0">
                <a:solidFill>
                  <a:srgbClr val="FFCB6B"/>
                </a:solidFill>
                <a:latin typeface="Menlo"/>
              </a:rPr>
              <a:t>defineCachedFunction</a:t>
            </a:r>
            <a:r>
              <a:rPr sz="1300" b="0" i="0">
                <a:solidFill>
                  <a:srgbClr val="E6EDF3"/>
                </a:solidFill>
                <a:latin typeface="Menlo"/>
              </a:rPr>
              <a:t>(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</a:t>
            </a:r>
            <a:r>
              <a:rPr sz="1300" b="0" i="0">
                <a:solidFill>
                  <a:srgbClr val="C792EA"/>
                </a:solidFill>
                <a:latin typeface="Menlo"/>
              </a:rPr>
              <a:t>async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(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repo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string</a:t>
            </a:r>
            <a:r>
              <a:rPr sz="1300" b="0" i="0">
                <a:solidFill>
                  <a:srgbClr val="E6EDF3"/>
                </a:solidFill>
                <a:latin typeface="Menlo"/>
              </a:rPr>
              <a:t>) =&gt; {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  </a:t>
            </a:r>
            <a:r>
              <a:rPr sz="1300" b="0" i="0">
                <a:solidFill>
                  <a:srgbClr val="C792EA"/>
                </a:solidFill>
                <a:latin typeface="Menlo"/>
              </a:rPr>
              <a:t>const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= </a:t>
            </a:r>
            <a:r>
              <a:rPr sz="1300" b="0" i="0">
                <a:solidFill>
                  <a:srgbClr val="C792EA"/>
                </a:solidFill>
                <a:latin typeface="Menlo"/>
              </a:rPr>
              <a:t>await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FFCB6B"/>
                </a:solidFill>
                <a:latin typeface="Menlo"/>
              </a:rPr>
              <a:t>fetch</a:t>
            </a:r>
            <a:r>
              <a:rPr sz="1300" b="0" i="0">
                <a:solidFill>
                  <a:srgbClr val="E6EDF3"/>
                </a:solidFill>
                <a:latin typeface="Menlo"/>
              </a:rPr>
              <a:t>(</a:t>
            </a:r>
            <a:r>
              <a:rPr sz="1300" b="0" i="0">
                <a:solidFill>
                  <a:srgbClr val="E6EDF3"/>
                </a:solidFill>
                <a:latin typeface="Menlo"/>
              </a:rPr>
              <a:t>gh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+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repo</a:t>
            </a:r>
            <a:r>
              <a:rPr sz="1300" b="0" i="0">
                <a:solidFill>
                  <a:srgbClr val="E6EDF3"/>
                </a:solidFill>
                <a:latin typeface="Menlo"/>
              </a:rPr>
              <a:t>);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  </a:t>
            </a:r>
            <a:r>
              <a:rPr sz="1300" b="0" i="0">
                <a:solidFill>
                  <a:srgbClr val="C792EA"/>
                </a:solidFill>
                <a:latin typeface="Menlo"/>
              </a:rPr>
              <a:t>return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(</a:t>
            </a:r>
            <a:r>
              <a:rPr sz="1300" b="0" i="0">
                <a:solidFill>
                  <a:srgbClr val="C792EA"/>
                </a:solidFill>
                <a:latin typeface="Menlo"/>
              </a:rPr>
              <a:t>await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</a:t>
            </a:r>
            <a:r>
              <a:rPr sz="1300" b="0" i="0">
                <a:solidFill>
                  <a:srgbClr val="E6EDF3"/>
                </a:solidFill>
                <a:latin typeface="Menlo"/>
              </a:rPr>
              <a:t>.</a:t>
            </a:r>
            <a:r>
              <a:rPr sz="1300" b="0" i="0">
                <a:solidFill>
                  <a:srgbClr val="E6EDF3"/>
                </a:solidFill>
                <a:latin typeface="Menlo"/>
              </a:rPr>
              <a:t>json</a:t>
            </a:r>
            <a:r>
              <a:rPr sz="1300" b="0" i="0">
                <a:solidFill>
                  <a:srgbClr val="E6EDF3"/>
                </a:solidFill>
                <a:latin typeface="Menlo"/>
              </a:rPr>
              <a:t>()).</a:t>
            </a:r>
            <a:r>
              <a:rPr sz="1300" b="0" i="0">
                <a:solidFill>
                  <a:srgbClr val="E6EDF3"/>
                </a:solidFill>
                <a:latin typeface="Menlo"/>
              </a:rPr>
              <a:t>stargazers_count</a:t>
            </a:r>
            <a:r>
              <a:rPr sz="1300" b="0" i="0">
                <a:solidFill>
                  <a:srgbClr val="E6EDF3"/>
                </a:solidFill>
                <a:latin typeface="Menlo"/>
              </a:rPr>
              <a:t>;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</a:t>
            </a:r>
            <a:r>
              <a:rPr sz="1300" b="0" i="0">
                <a:solidFill>
                  <a:srgbClr val="E6EDF3"/>
                </a:solidFill>
                <a:latin typeface="Menlo"/>
              </a:rPr>
              <a:t>},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</a:t>
            </a:r>
            <a:r>
              <a:rPr sz="1300" b="0" i="0">
                <a:solidFill>
                  <a:srgbClr val="E6EDF3"/>
                </a:solidFill>
                <a:latin typeface="Menlo"/>
              </a:rPr>
              <a:t>{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name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</a:t>
            </a:r>
            <a:r>
              <a:rPr sz="1300" b="0" i="0">
                <a:solidFill>
                  <a:srgbClr val="4ADE80"/>
                </a:solidFill>
                <a:latin typeface="Menlo"/>
              </a:rPr>
              <a:t>"ghStars"</a:t>
            </a:r>
            <a:r>
              <a:rPr sz="1300" b="0" i="0">
                <a:solidFill>
                  <a:srgbClr val="E6EDF3"/>
                </a:solidFill>
                <a:latin typeface="Menlo"/>
              </a:rPr>
              <a:t>,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  </a:t>
            </a:r>
            <a:r>
              <a:rPr sz="1300" b="0" i="0">
                <a:solidFill>
                  <a:srgbClr val="E6EDF3"/>
                </a:solidFill>
                <a:latin typeface="Menlo"/>
              </a:rPr>
              <a:t>maxAge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</a:t>
            </a:r>
            <a:r>
              <a:rPr sz="1300" b="0" i="0">
                <a:solidFill>
                  <a:srgbClr val="F78C6C"/>
                </a:solidFill>
                <a:latin typeface="Menlo"/>
              </a:rPr>
              <a:t>60</a:t>
            </a:r>
            <a:r>
              <a:rPr sz="1300" b="0" i="0">
                <a:solidFill>
                  <a:srgbClr val="E6EDF3"/>
                </a:solidFill>
                <a:latin typeface="Menlo"/>
              </a:rPr>
              <a:t>,       </a:t>
            </a:r>
            <a:r>
              <a:rPr sz="1300" b="0" i="1">
                <a:solidFill>
                  <a:srgbClr val="8B98A9"/>
                </a:solidFill>
                <a:latin typeface="Menlo"/>
              </a:rPr>
              <a:t>// fresh for 60s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  </a:t>
            </a:r>
            <a:r>
              <a:rPr sz="1300" b="0" i="0">
                <a:solidFill>
                  <a:srgbClr val="E6EDF3"/>
                </a:solidFill>
                <a:latin typeface="Menlo"/>
              </a:rPr>
              <a:t>staleMaxAge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-</a:t>
            </a:r>
            <a:r>
              <a:rPr sz="1300" b="0" i="0">
                <a:solidFill>
                  <a:srgbClr val="F78C6C"/>
                </a:solidFill>
                <a:latin typeface="Menlo"/>
              </a:rPr>
              <a:t>1</a:t>
            </a:r>
            <a:r>
              <a:rPr sz="1300" b="0" i="0">
                <a:solidFill>
                  <a:srgbClr val="E6EDF3"/>
                </a:solidFill>
                <a:latin typeface="Menlo"/>
              </a:rPr>
              <a:t>,  </a:t>
            </a:r>
            <a:r>
              <a:rPr sz="1300" b="0" i="1">
                <a:solidFill>
                  <a:srgbClr val="8B98A9"/>
                </a:solidFill>
                <a:latin typeface="Menlo"/>
              </a:rPr>
              <a:t>// then stale + bg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    </a:t>
            </a:r>
            <a:r>
              <a:rPr sz="1300" b="0" i="0">
                <a:solidFill>
                  <a:srgbClr val="E6EDF3"/>
                </a:solidFill>
                <a:latin typeface="Menlo"/>
              </a:rPr>
              <a:t>getKey</a:t>
            </a:r>
            <a:r>
              <a:rPr sz="1300" b="0" i="0">
                <a:solidFill>
                  <a:srgbClr val="E6EDF3"/>
                </a:solidFill>
                <a:latin typeface="Menlo"/>
              </a:rPr>
              <a:t>: (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repo</a:t>
            </a:r>
            <a:r>
              <a:rPr sz="1300" b="0" i="0">
                <a:solidFill>
                  <a:srgbClr val="E6EDF3"/>
                </a:solidFill>
                <a:latin typeface="Menlo"/>
              </a:rPr>
              <a:t>) =&gt; </a:t>
            </a:r>
            <a:r>
              <a:rPr sz="1300" b="0" i="0">
                <a:solidFill>
                  <a:srgbClr val="E6EDF3"/>
                </a:solidFill>
                <a:latin typeface="Menlo"/>
              </a:rPr>
              <a:t>repo</a:t>
            </a:r>
            <a:r>
              <a:rPr sz="1300" b="0" i="0">
                <a:solidFill>
                  <a:srgbClr val="E6EDF3"/>
                </a:solidFill>
                <a:latin typeface="Menlo"/>
              </a:rPr>
              <a:t> },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);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0">
                <a:solidFill>
                  <a:srgbClr val="E6EDF3"/>
                </a:solidFill>
                <a:latin typeface="Menlo"/>
              </a:rPr>
              <a:t> </a:t>
            </a:r>
          </a:p>
          <a:p>
            <a:pPr>
              <a:lnSpc>
                <a:spcPct val="106000"/>
              </a:lnSpc>
              <a:spcAft>
                <a:spcPts val="150"/>
              </a:spcAft>
            </a:pPr>
            <a:r>
              <a:rPr sz="1300" b="0" i="1">
                <a:solidFill>
                  <a:srgbClr val="8B98A9"/>
                </a:solidFill>
                <a:latin typeface="Menlo"/>
              </a:rPr>
              <a:t>// No redis client. No conn string.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778"/>
                </a:solidFill>
                <a:latin typeface="Menlo"/>
              </a:rPr>
              <a:t>[...repo] is a catch-all param  ·  /api/stars/nitrojs/nitro  -&gt;  repo = "nitrojs/nitro"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3800" b="1" i="0">
                <a:solidFill>
                  <a:srgbClr val="E6EDF3"/>
                </a:solidFill>
                <a:latin typeface="Calibri"/>
              </a:rPr>
              <a:t>Live: the whole server is seven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10607040" cy="269748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44450" cy="251460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9875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381000" indent="-381000">
              <a:spcAft>
                <a:spcPts val="1400"/>
              </a:spcAft>
            </a:pPr>
            <a:r>
              <a:rPr sz="2000" b="1" i="0">
                <a:solidFill>
                  <a:srgbClr val="F2A03D"/>
                </a:solidFill>
                <a:latin typeface="Menlo"/>
              </a:rPr>
              <a:t>1.  </a:t>
            </a:r>
            <a:r>
              <a:rPr sz="2000" b="1" i="0">
                <a:solidFill>
                  <a:srgbClr val="E6EDF3"/>
                </a:solidFill>
                <a:latin typeface="Menlo"/>
              </a:rPr>
              <a:t>stars/[...repo].ts</a:t>
            </a:r>
            <a:r>
              <a:rPr sz="1700" b="0" i="0">
                <a:solidFill>
                  <a:srgbClr val="8B98A9"/>
                </a:solidFill>
                <a:latin typeface="Calibri"/>
              </a:rPr>
              <a:t>   no redis client  →  ~300 ms becomes 0.4 ms</a:t>
            </a:r>
          </a:p>
          <a:p>
            <a:pPr marL="381000" indent="-381000">
              <a:spcAft>
                <a:spcPts val="1400"/>
              </a:spcAft>
            </a:pPr>
            <a:r>
              <a:rPr sz="2000" b="1" i="0">
                <a:solidFill>
                  <a:srgbClr val="F2A03D"/>
                </a:solidFill>
                <a:latin typeface="Menlo"/>
              </a:rPr>
              <a:t>2.  </a:t>
            </a:r>
            <a:r>
              <a:rPr sz="2000" b="1" i="0">
                <a:solidFill>
                  <a:srgbClr val="E6EDF3"/>
                </a:solidFill>
                <a:latin typeface="Menlo"/>
              </a:rPr>
              <a:t>nitro.config.ts</a:t>
            </a:r>
            <a:r>
              <a:rPr sz="1700" b="0" i="0">
                <a:solidFill>
                  <a:srgbClr val="8B98A9"/>
                </a:solidFill>
                <a:latin typeface="Calibri"/>
              </a:rPr>
              <a:t>   cors, cache, proxy, auth — as config</a:t>
            </a:r>
          </a:p>
          <a:p>
            <a:pPr marL="381000" indent="-381000">
              <a:spcAft>
                <a:spcPts val="1400"/>
              </a:spcAft>
            </a:pPr>
            <a:r>
              <a:rPr sz="2000" b="1" i="0">
                <a:solidFill>
                  <a:srgbClr val="F2A03D"/>
                </a:solidFill>
                <a:latin typeface="Menlo"/>
              </a:rPr>
              <a:t>3.  </a:t>
            </a:r>
            <a:r>
              <a:rPr sz="2000" b="1" i="0">
                <a:solidFill>
                  <a:srgbClr val="E6EDF3"/>
                </a:solidFill>
                <a:latin typeface="Menlo"/>
              </a:rPr>
              <a:t>routes/admin/</a:t>
            </a:r>
            <a:r>
              <a:rPr sz="1700" b="0" i="0">
                <a:solidFill>
                  <a:srgbClr val="8B98A9"/>
                </a:solidFill>
                <a:latin typeface="Calibri"/>
              </a:rPr>
              <a:t>   password on the route, no auth code in the file</a:t>
            </a:r>
          </a:p>
          <a:p>
            <a:pPr marL="381000" indent="-381000">
              <a:spcAft>
                <a:spcPts val="1400"/>
              </a:spcAft>
            </a:pPr>
            <a:r>
              <a:rPr sz="2000" b="1" i="0">
                <a:solidFill>
                  <a:srgbClr val="F2A03D"/>
                </a:solidFill>
                <a:latin typeface="Menlo"/>
              </a:rPr>
              <a:t>4.  </a:t>
            </a:r>
            <a:r>
              <a:rPr sz="2000" b="1" i="0">
                <a:solidFill>
                  <a:srgbClr val="E6EDF3"/>
                </a:solidFill>
                <a:latin typeface="Menlo"/>
              </a:rPr>
              <a:t>nitro build ×5</a:t>
            </a:r>
            <a:r>
              <a:rPr sz="1700" b="0" i="0">
                <a:solidFill>
                  <a:srgbClr val="8B98A9"/>
                </a:solidFill>
                <a:latin typeface="Calibri"/>
              </a:rPr>
              <a:t>   node · cloudflare · vercel · deno · bun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2120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4ADE80"/>
                </a:solidFill>
                <a:latin typeface="Menlo"/>
              </a:rPr>
              <a:t>localhost:3100</a:t>
            </a:r>
            <a:r>
              <a:rPr sz="1700" b="0" i="0">
                <a:solidFill>
                  <a:srgbClr val="8B98A9"/>
                </a:solidFill>
                <a:latin typeface="Calibri"/>
              </a:rPr>
              <a:t>     live code, live cache, live builds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TRADE-OFFS — THE HONEST 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What it costs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5166360" cy="361188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40280"/>
            <a:ext cx="44450" cy="34290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77440"/>
            <a:ext cx="4617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400" b="1" i="0">
                <a:solidFill>
                  <a:srgbClr val="4ADE80"/>
                </a:solidFill>
                <a:latin typeface="Menlo"/>
              </a:rPr>
              <a:t>WORTH IT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4ADE80"/>
                </a:solidFill>
                <a:latin typeface="Menlo"/>
              </a:rPr>
              <a:t>+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No lock-in — platform is a build flag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4ADE80"/>
                </a:solidFill>
                <a:latin typeface="Menlo"/>
              </a:rPr>
              <a:t>+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Cache, KV, SQL, WebSockets included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4ADE80"/>
                </a:solidFill>
                <a:latin typeface="Menlo"/>
              </a:rPr>
              <a:t>+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Tiny dep tree: 25 vs 273 packages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4ADE80"/>
                </a:solidFill>
                <a:latin typeface="Menlo"/>
              </a:rPr>
              <a:t>+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Sub-30 ms dev rebuilds (Rolldown)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4ADE80"/>
                </a:solidFill>
                <a:latin typeface="Menlo"/>
              </a:rPr>
              <a:t>+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Web standards — knowledge transfers 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166360" cy="361188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2240280"/>
            <a:ext cx="44450" cy="34290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6177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400" b="1" i="0">
                <a:solidFill>
                  <a:srgbClr val="F87171"/>
                </a:solidFill>
                <a:latin typeface="Menlo"/>
              </a:rPr>
              <a:t>WHAT BIT ME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F87171"/>
                </a:solidFill>
                <a:latin typeface="Menlo"/>
              </a:rPr>
              <a:t>−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v3 is beta — API moves, docs lag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F87171"/>
                </a:solidFill>
                <a:latin typeface="Menlo"/>
              </a:rPr>
              <a:t>−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No jiti installed → config won't load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F87171"/>
                </a:solidFill>
                <a:latin typeface="Menlo"/>
              </a:rPr>
              <a:t>−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serverDir defaults to false → silent 404s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F87171"/>
                </a:solidFill>
                <a:latin typeface="Menlo"/>
              </a:rPr>
              <a:t>−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Portable code ≠ portable dependencies</a:t>
            </a:r>
          </a:p>
          <a:p>
            <a:pPr marL="254000" indent="-254000">
              <a:spcAft>
                <a:spcPts val="1100"/>
              </a:spcAft>
            </a:pPr>
            <a:r>
              <a:rPr sz="1700" b="1" i="0">
                <a:solidFill>
                  <a:srgbClr val="F87171"/>
                </a:solidFill>
                <a:latin typeface="Menlo"/>
              </a:rPr>
              <a:t>− 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Smaller community than 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276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50" b="0" i="0">
                <a:solidFill>
                  <a:srgbClr val="5A6778"/>
                </a:solidFill>
                <a:latin typeface="Menlo"/>
              </a:rPr>
              <a:t>Every item on the right is something I hit building the POC for this talk.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COMPARED TO THE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Where Nitro actually sits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86000"/>
          <a:ext cx="10607040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234440"/>
                <a:gridCol w="2880360"/>
                <a:gridCol w="210312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2A03D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2A03D"/>
                          </a:solidFill>
                          <a:latin typeface="Calibri"/>
                        </a:rPr>
                        <a:t>deps*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2A03D"/>
                          </a:solidFill>
                          <a:latin typeface="Calibri"/>
                        </a:rPr>
                        <a:t>multi-runtime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2A03D"/>
                          </a:solidFill>
                          <a:latin typeface="Calibri"/>
                        </a:rPr>
                        <a:t>deploy presets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2A03D"/>
                          </a:solidFill>
                          <a:latin typeface="Calibri"/>
                        </a:rPr>
                        <a:t>cache + KV built in</a:t>
                      </a:r>
                    </a:p>
                  </a:txBody>
                  <a:tcPr anchor="ctr" marL="118872" marR="118872">
                    <a:solidFill>
                      <a:srgbClr val="1C23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6EDF3"/>
                          </a:solidFill>
                          <a:latin typeface="Menlo"/>
                        </a:rPr>
                        <a:t>nitro v3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4ADE80"/>
                          </a:solidFill>
                          <a:latin typeface="Calibri"/>
                        </a:rPr>
                        <a:t>✓ Node/Bun/Deno/edge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4ADE80"/>
                          </a:solidFill>
                          <a:latin typeface="Calibri"/>
                        </a:rPr>
                        <a:t>✓ ~20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4ADE80"/>
                          </a:solidFill>
                          <a:latin typeface="Calibri"/>
                        </a:rPr>
                        <a:t>✓ yes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6EDF3"/>
                          </a:solidFill>
                          <a:latin typeface="Menlo"/>
                        </a:rPr>
                        <a:t>hono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4ADE80"/>
                          </a:solidFill>
                          <a:latin typeface="Calibri"/>
                        </a:rPr>
                        <a:t>✓ Node/Bun/Deno/edge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none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bring your own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6EDF3"/>
                          </a:solidFill>
                          <a:latin typeface="Menlo"/>
                        </a:rPr>
                        <a:t>fastify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41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Node-centric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none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plugins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6EDF3"/>
                          </a:solidFill>
                          <a:latin typeface="Menlo"/>
                        </a:rPr>
                        <a:t>express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Node only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none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F87171"/>
                          </a:solidFill>
                          <a:latin typeface="Calibri"/>
                        </a:rPr>
                        <a:t>✗ bring your own</a:t>
                      </a:r>
                    </a:p>
                  </a:txBody>
                  <a:tcPr anchor="ctr" marL="118872" marR="118872">
                    <a:solidFill>
                      <a:srgbClr val="151B2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400" b="0" i="0">
                          <a:solidFill>
                            <a:srgbClr val="E6EDF3"/>
                          </a:solidFill>
                          <a:latin typeface="Menlo"/>
                        </a:rPr>
                        <a:t>next.js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~30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~ Node + edge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 i="0">
                          <a:solidFill>
                            <a:srgbClr val="E6EDF3"/>
                          </a:solidFill>
                          <a:latin typeface="Calibri"/>
                        </a:rPr>
                        <a:t>~ Vercel-shaped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 i="0">
                          <a:solidFill>
                            <a:srgbClr val="4ADE80"/>
                          </a:solidFill>
                          <a:latin typeface="Calibri"/>
                        </a:rPr>
                        <a:t>✓ yes</a:t>
                      </a:r>
                    </a:p>
                  </a:txBody>
                  <a:tcPr anchor="ctr" marL="118872" marR="118872">
                    <a:solidFill>
                      <a:srgbClr val="11161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892040"/>
            <a:ext cx="10607040" cy="114300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4983480"/>
            <a:ext cx="44450" cy="960120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10235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700" b="1" i="0">
                <a:solidFill>
                  <a:srgbClr val="F2A03D"/>
                </a:solidFill>
                <a:latin typeface="Calibri"/>
              </a:rPr>
              <a:t>Not either-or: </a:t>
            </a:r>
            <a:r>
              <a:rPr sz="1600" b="0" i="0">
                <a:solidFill>
                  <a:srgbClr val="E6EDF3"/>
                </a:solidFill>
                <a:latin typeface="Calibri"/>
              </a:rPr>
              <a:t>Nitro will run Hono, Elysia or plain h3 as its server entry — you keep the router you like and still get the presets.</a:t>
            </a:r>
          </a:p>
          <a:p>
            <a:r>
              <a:rPr sz="1200" b="0" i="1">
                <a:solidFill>
                  <a:srgbClr val="8B98A9"/>
                </a:solidFill>
                <a:latin typeface="Calibri"/>
              </a:rPr>
              <a:t>* transitive package count, measured with a clean npm install on 2026-07-29.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Calibri"/>
              </a:rP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4000" b="1" i="0">
                <a:solidFill>
                  <a:srgbClr val="E6EDF3"/>
                </a:solidFill>
                <a:latin typeface="Calibri"/>
              </a:rPr>
              <a:t>Deployment as a compile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0" i="0">
                <a:solidFill>
                  <a:srgbClr val="8B98A9"/>
                </a:solidFill>
                <a:latin typeface="Calibri"/>
              </a:rPr>
              <a:t>That is the idea worth stealing, whether or not you adopt the tool.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77440"/>
            <a:ext cx="5166360" cy="196596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468880"/>
            <a:ext cx="44450" cy="178308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4ADE80"/>
                </a:solidFill>
                <a:latin typeface="Menlo"/>
              </a:rPr>
              <a:t>REACH FOR IT WHEN</a:t>
            </a:r>
          </a:p>
          <a:p>
            <a:pPr>
              <a:spcAft>
                <a:spcPts val="700"/>
              </a:spcAft>
            </a:pPr>
            <a:r>
              <a:rPr sz="1550" b="0" i="0">
                <a:solidFill>
                  <a:srgbClr val="E6EDF3"/>
                </a:solidFill>
                <a:latin typeface="Calibri"/>
              </a:rPr>
              <a:t>·  Edge or multi-platform is on the table</a:t>
            </a:r>
          </a:p>
          <a:p>
            <a:pPr>
              <a:spcAft>
                <a:spcPts val="700"/>
              </a:spcAft>
            </a:pPr>
            <a:r>
              <a:rPr sz="1550" b="0" i="0">
                <a:solidFill>
                  <a:srgbClr val="E6EDF3"/>
                </a:solidFill>
                <a:latin typeface="Calibri"/>
              </a:rPr>
              <a:t>·  You want cache + KV without provisioning</a:t>
            </a:r>
          </a:p>
          <a:p>
            <a:pPr>
              <a:spcAft>
                <a:spcPts val="700"/>
              </a:spcAft>
            </a:pPr>
            <a:r>
              <a:rPr sz="1550" b="0" i="0">
                <a:solidFill>
                  <a:srgbClr val="E6EDF3"/>
                </a:solidFill>
                <a:latin typeface="Calibri"/>
              </a:rPr>
              <a:t>·  You're already in the Nuxt / unjs world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5166360" cy="1965960"/>
          </a:xfrm>
          <a:prstGeom prst="roundRect">
            <a:avLst>
              <a:gd name="adj" fmla="val 4000"/>
            </a:avLst>
          </a:prstGeom>
          <a:solidFill>
            <a:srgbClr val="141922"/>
          </a:solidFill>
          <a:ln w="12700">
            <a:solidFill>
              <a:srgbClr val="2A33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468880"/>
            <a:ext cx="44450" cy="178308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6177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F87171"/>
                </a:solidFill>
                <a:latin typeface="Menlo"/>
              </a:rPr>
              <a:t>SKIP IT WHEN</a:t>
            </a:r>
          </a:p>
          <a:p>
            <a:pPr>
              <a:spcAft>
                <a:spcPts val="700"/>
              </a:spcAft>
            </a:pPr>
            <a:r>
              <a:rPr sz="1550" b="0" i="0">
                <a:solidFill>
                  <a:srgbClr val="E6EDF3"/>
                </a:solidFill>
                <a:latin typeface="Calibri"/>
              </a:rPr>
              <a:t>·  Production ships next week (wait for stable)</a:t>
            </a:r>
          </a:p>
          <a:p>
            <a:pPr>
              <a:spcAft>
                <a:spcPts val="700"/>
              </a:spcAft>
            </a:pPr>
            <a:r>
              <a:rPr sz="1550" b="0" i="0">
                <a:solidFill>
                  <a:srgbClr val="E6EDF3"/>
                </a:solidFill>
                <a:latin typeface="Calibri"/>
              </a:rPr>
              <a:t>·  A plain Node service on one host is enough</a:t>
            </a:r>
          </a:p>
          <a:p>
            <a:pPr>
              <a:spcAft>
                <a:spcPts val="700"/>
              </a:spcAft>
            </a:pPr>
            <a:r>
              <a:rPr sz="1550" b="0" i="0">
                <a:solidFill>
                  <a:srgbClr val="E6EDF3"/>
                </a:solidFill>
                <a:latin typeface="Calibri"/>
              </a:rPr>
              <a:t>·  Your team needs a big hiring pool / lots of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 i="0">
                <a:solidFill>
                  <a:srgbClr val="F2A03D"/>
                </a:solidFill>
                <a:latin typeface="Menlo"/>
              </a:rPr>
              <a:t>nitro.build</a:t>
            </a:r>
            <a:r>
              <a:rPr sz="2200" b="0" i="0">
                <a:solidFill>
                  <a:srgbClr val="2A3343"/>
                </a:solidFill>
                <a:latin typeface="Menlo"/>
              </a:rPr>
              <a:t>     ·     </a:t>
            </a:r>
            <a:r>
              <a:rPr sz="2200" b="1" i="0">
                <a:solidFill>
                  <a:srgbClr val="F2A03D"/>
                </a:solidFill>
                <a:latin typeface="Menlo"/>
              </a:rPr>
              <a:t>github.com/nitrojs/nitro</a:t>
            </a:r>
          </a:p>
          <a:p>
            <a:r>
              <a:rPr sz="1600" b="0" i="0">
                <a:solidFill>
                  <a:srgbClr val="8B98A9"/>
                </a:solidFill>
                <a:latin typeface="Calibri"/>
              </a:rPr>
              <a:t>Demo source, measured numbers and the runbook are in this repo — ask me for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E6EDF3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